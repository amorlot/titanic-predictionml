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64008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12188952" cy="64008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TITANIC SURVIVAL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AAC4E8"/>
                </a:solidFill>
              </a:rPr>
              <a:t>Machine Learning Pipeline — Architettura Avanzata con Libreria Generalizzata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A0CC"/>
                </a:solidFill>
              </a:rPr>
              <a:t>5 Algoritmi  |  Docker  |  REST API  |  Feature Engineering  |  Libreria Riutilizzabile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074920"/>
            <a:ext cx="2011680" cy="1325880"/>
          </a:xfrm>
          <a:prstGeom prst="rect">
            <a:avLst/>
          </a:prstGeom>
          <a:solidFill>
            <a:srgbClr val="2A3A6E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166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7B1E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79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4E8"/>
                </a:solidFill>
              </a:rPr>
              <a:t>Modelli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5074920"/>
            <a:ext cx="2011680" cy="1325880"/>
          </a:xfrm>
          <a:prstGeom prst="rect">
            <a:avLst/>
          </a:prstGeom>
          <a:solidFill>
            <a:srgbClr val="2A3A6E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5166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7B1E"/>
                </a:solidFill>
              </a:rPr>
              <a:t>891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5779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4E8"/>
                </a:solidFill>
              </a:rPr>
              <a:t>Train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5074920"/>
            <a:ext cx="2011680" cy="1325880"/>
          </a:xfrm>
          <a:prstGeom prst="rect">
            <a:avLst/>
          </a:prstGeom>
          <a:solidFill>
            <a:srgbClr val="2A3A6E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5166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7B1E"/>
                </a:solidFill>
              </a:rPr>
              <a:t>418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779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4E8"/>
                </a:solidFill>
              </a:rPr>
              <a:t>Test 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5074920"/>
            <a:ext cx="2011680" cy="1325880"/>
          </a:xfrm>
          <a:prstGeom prst="rect">
            <a:avLst/>
          </a:prstGeom>
          <a:solidFill>
            <a:srgbClr val="2A3A6E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5166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7B1E"/>
                </a:solidFill>
              </a:rPr>
              <a:t>84.4%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779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4E8"/>
                </a:solidFill>
              </a:rPr>
              <a:t>Best CV acc.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88"/>
                </a:solidFill>
              </a:rPr>
              <a:t>Corso Data Analytics  |  2025/26  |  Andrea Morlotti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Struttura della presentazione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8872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8872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3167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Il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79222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Obiettivo Kaggle e analisi del 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18872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118872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4" y="13167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Architettura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179222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Docker, REST API, config.yaml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8192" y="118872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118872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13167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Libreria Generalizzata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179222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Abstract classes, composabilita, riuso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4272" y="118872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4272" y="118872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13167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Data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179222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Sequenza completa dei transformer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292608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292608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30540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Feature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352958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7 nuove variabili derivate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2112" y="292608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82112" y="292608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2112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2464" y="30540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Imputazione 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2464" y="352958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Strategia per titolo del nome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292608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08192" y="292608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8192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544" y="30540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Modelli &amp; GridSearchCV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8544" y="352958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5 algoritmi con ottimizzazione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34272" y="292608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34272" y="292608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34272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64624" y="30540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Tecniche Avanzate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64624" y="352958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PCA, Multicollinearity, Threshold Tuning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466344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6032" y="466344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" y="5230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" y="47914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Parallelismo &amp; Docker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" y="526694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Fix deadlock, LOKY, n_jobs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82112" y="466344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82112" y="466344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82112" y="5230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12464" y="47914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Valutazione Locale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12464" y="526694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StratifiedKFold vs holdout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08192" y="466344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08192" y="466344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08192" y="5230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8544" y="47914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Risultati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8544" y="526694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Performance CV per modello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34272" y="466344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34272" y="466344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34272" y="5230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64624" y="47914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Confronto Funghi-Titanic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64624" y="526694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Evoluzione architettura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" y="6400800"/>
            <a:ext cx="2743200" cy="157276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6032" y="6400800"/>
            <a:ext cx="457200" cy="15727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032" y="6967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" y="65288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Prossimi Passi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" y="700430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Ensemble, CV-Bagging,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Il Problema — Titanic Kaggle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Binary classification: Survived = 0 /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Obiettivo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Predire la sopravvivenza di 418 passeggeri del test set in base a caratteristiche demografiche e sociali. Kaggle valuta con Accuracy (% predizioni corrette).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530352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303520" cy="347472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239572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Dataset Kaggle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79806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  891 passeggeri nel train set (labels noti)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313639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  418 passeggeri nel test set (labels segreti)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47472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  Metrica Kaggle: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381304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  Baseline naive (tutti morti): 61.6%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415137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  Obiettivo realistico: &gt;80%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5303520" cy="187451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5303520" cy="347472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477316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 originali (11 colonne)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517550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  PassengerId, Pclass (1/2/3),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551383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  Sex, Age (177 mancanti), SibSp, Parch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585216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  Ticket, Fare, Cabin (687 mancanti), Embarked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170432"/>
            <a:ext cx="5760720" cy="5394960"/>
          </a:xfrm>
          <a:prstGeom prst="rect">
            <a:avLst/>
          </a:prstGeom>
          <a:solidFill>
            <a:srgbClr val="F8F9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170432"/>
            <a:ext cx="576072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11887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Tassi di sopravvivenza (train set)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Donne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783080"/>
            <a:ext cx="3429000" cy="1828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783080"/>
            <a:ext cx="2544318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94592" y="17373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74.2%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395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1a classe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2441448"/>
            <a:ext cx="3429000" cy="1828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2441448"/>
            <a:ext cx="2156841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94592" y="239572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62.9%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054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Bambini &lt; 15 anni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3099816"/>
            <a:ext cx="3429000" cy="1828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3099816"/>
            <a:ext cx="1985390" cy="182880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94592" y="305409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78A8A"/>
                </a:solidFill>
              </a:rPr>
              <a:t>57.9%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712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Totale passeggeri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3758184"/>
            <a:ext cx="3429000" cy="1828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2440" y="3758184"/>
            <a:ext cx="1316736" cy="18288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94592" y="3712464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87B1E"/>
                </a:solidFill>
              </a:rPr>
              <a:t>38.4%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370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3a classe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4416552"/>
            <a:ext cx="3429000" cy="1828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92440" y="4416552"/>
            <a:ext cx="829818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94592" y="437083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</a:rPr>
              <a:t>24.2%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Uomini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5074920"/>
            <a:ext cx="3429000" cy="1828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2440" y="5074920"/>
            <a:ext cx="64808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94592" y="502920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</a:rPr>
              <a:t>18.9%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Architettura del Progetto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Docker  |  REST API  |  config.yaml  |  Libreria embedded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3657600" cy="5486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B1E"/>
                </a:solidFill>
              </a:rPr>
              <a:t>titanic/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093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8A8A"/>
                </a:solidFill>
              </a:rPr>
              <a:t>|- lib/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379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|   |- models/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665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|   |   |- base.py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2951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|   |   |- logreg.py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5237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|   |   |- random_forest.py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7523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|   |   |- xgboost.py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9809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|   |   |- svm.py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2095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|   |   +- decision_tree.py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4381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|   |- api/models.py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6667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|   |- feature_engineering.py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8953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|   |- cleaner.py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1239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|   |- encoder.py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3525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|   |- outliers.py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5811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|   |- multicollinearity.py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8097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|   +- pca_reducer.py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50383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B1E"/>
                </a:solidFill>
              </a:rPr>
              <a:t>|- main.py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52669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78A8A"/>
                </a:solidFill>
              </a:rPr>
              <a:t>|- config.yaml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54955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44"/>
                </a:solidFill>
              </a:rPr>
              <a:t>|- Dockerfile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57241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|- evaluate_local.py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59527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FF"/>
                </a:solidFill>
              </a:rPr>
              <a:t>+- tests/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1170432"/>
            <a:ext cx="3657600" cy="2377440"/>
          </a:xfrm>
          <a:prstGeom prst="rect">
            <a:avLst/>
          </a:prstGeom>
          <a:solidFill>
            <a:srgbClr val="E8F4FF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1170432"/>
            <a:ext cx="3657600" cy="365760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1188720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 Container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16276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FROM python:3.11-slim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19385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ENV PYTHONPATH=/app:/app/lib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224942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ENV PYTHONUNBUFFERED=1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256032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ENV LOKY_MAX_CPU_COUNT=8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28712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RUN apt install gcc  (per XGBoost)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657600"/>
            <a:ext cx="3657600" cy="2907792"/>
          </a:xfrm>
          <a:prstGeom prst="rect">
            <a:avLst/>
          </a:prstGeom>
          <a:solidFill>
            <a:srgbClr val="F0FFF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0" y="3657600"/>
            <a:ext cx="36576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8" y="3675887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REST API -- FastAPI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8" y="4114800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GET  /           -&gt; lista modelli attivi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4462272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POST /train      -&gt; training + best_score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4809744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POST /evaluate   -&gt; accuracy, f1, 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61688" y="51572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POST /predict    -&gt; genera submission CSV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550468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Risposta JSON strutturata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1688" y="5852160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Avvio: bash start.sh nel container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1170432"/>
            <a:ext cx="3657600" cy="5394960"/>
          </a:xfrm>
          <a:prstGeom prst="rect">
            <a:avLst/>
          </a:prstGeom>
          <a:solidFill>
            <a:srgbClr val="FFFBF0"/>
          </a:solidFill>
          <a:ln w="1905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1170432"/>
            <a:ext cx="3657600" cy="36576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9327" y="1188720"/>
            <a:ext cx="3474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config.yaml -- punto di controllo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1627632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loader: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874520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train_path, target_col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212140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drop_cols: [Ticket, Cabin]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236829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cleaner: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15184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num_strategy: knn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862072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cat_strategy: knn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108960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outliers: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35584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detection: [iqr, zscore]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60273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apply_to: [logreg]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3849624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multicollinearity: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4096512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threshold: 0.85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343400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apply_to: [logreg]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459028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pca: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483717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n_components: 0.95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5084064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apply_to: [logreg]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5330952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models: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5577840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active: [logreg, xgboost,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582472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  rf, dt, svm]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607161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model_cache: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6318504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enabled: 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Libreria Generalizzata -- lib/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Componenti riutilizzabili su qualsiasi dataset tabellare, non solo Titanic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1612880" cy="822960"/>
          </a:xfrm>
          <a:prstGeom prst="rect">
            <a:avLst/>
          </a:prstGeom>
          <a:solidFill>
            <a:srgbClr val="E8F0FF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La cartella lib/ non e' specifica per il Titanic -- e' una libreria ML generica. Ogni componente prende un DataFrame in input, lo trasforma, e restituisce un DataFrame indipendentemente dal dominio. Per usarla su un nuovo dataset basta cambiare config.yaml.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5486400" cy="44622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128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B1E"/>
                </a:solidFill>
              </a:rPr>
              <a:t>models/base.py -- AbstractModel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4203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8A8A"/>
                </a:solidFill>
              </a:rPr>
              <a:t>class AbstractModel(ABC):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61488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def __init__(self):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80944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CFF"/>
                </a:solidFill>
              </a:rPr>
              <a:t>        self.model        = 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00400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CFF"/>
                </a:solidFill>
              </a:rPr>
              <a:t>        self.threshold    = 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19856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CFF"/>
                </a:solidFill>
              </a:rPr>
              <a:t>        self.best_score   = 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3931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CFF"/>
                </a:solidFill>
              </a:rPr>
              <a:t>        self.best_params  = 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58768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078224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7B1E"/>
                </a:solidFill>
              </a:rPr>
              <a:t>    @abstractmethod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97680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def train(self, X, y, cv, scoring):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517136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77777"/>
                </a:solidFill>
              </a:rPr>
              <a:t>        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73659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956048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8A8A"/>
                </a:solidFill>
              </a:rPr>
              <a:t>    def predict(self, X):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75504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if self.threshold != 0.5: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394960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    p = model.predict_proba(X)[:,1]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614416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    return (p &gt;= self.threshold)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83387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return self.model.predict(X)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053328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272784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8A8A"/>
                </a:solidFill>
              </a:rPr>
              <a:t>    def tune_threshold(self, X, y):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92240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79955"/>
                </a:solidFill>
              </a:rPr>
              <a:t>        # OOF probs con cross_val_predict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711696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79955"/>
                </a:solidFill>
              </a:rPr>
              <a:t>        # scannerizza soglie 0.30-0.70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93115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79955"/>
                </a:solidFill>
              </a:rPr>
              <a:t>        # ottimizza F1 / accuracy / recall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48840"/>
            <a:ext cx="1920240" cy="2176272"/>
          </a:xfrm>
          <a:prstGeom prst="rect">
            <a:avLst/>
          </a:prstGeom>
          <a:solidFill>
            <a:srgbClr val="F2F4F8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48840"/>
            <a:ext cx="1920240" cy="33832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21854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GenericCleaner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2551176"/>
            <a:ext cx="17922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Imputa valori mancanti con KNN (num e cat).
OrdinalEncoder per cat prima dell'imputer.
Salva le colonne al fit(): trasforma sempre
con la stessa struttura del training set.
Config: num_strategy, cat_strategy, knn_k.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2148840"/>
            <a:ext cx="1920240" cy="2176272"/>
          </a:xfrm>
          <a:prstGeom prst="rect">
            <a:avLst/>
          </a:prstGeom>
          <a:solidFill>
            <a:srgbClr val="F2F4F8"/>
          </a:solidFill>
          <a:ln w="1905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2148840"/>
            <a:ext cx="1920240" cy="338328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65592" y="21854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GenericOutlierHandler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5592" y="2551176"/>
            <a:ext cx="17922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Rileva outlier con IQR e/o Z-score.
Trattamento: winsorization (clip ai pct).
Applicabile solo a colonne specifiche.
Config: quale modello riceve dati win.
Fit su train, transform su test.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9840" y="2148840"/>
            <a:ext cx="1920240" cy="2176272"/>
          </a:xfrm>
          <a:prstGeom prst="rect">
            <a:avLst/>
          </a:prstGeom>
          <a:solidFill>
            <a:srgbClr val="F2F4F8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49840" y="2148840"/>
            <a:ext cx="1920240" cy="3383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22992" y="21854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MulticollinearityHandler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2992" y="2551176"/>
            <a:ext cx="17922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Calcola correlazione Pearson coppie num.
Rimuove una feature per ogni coppia |r|&gt;th.
Encoder separato (encoder_mc) per dataset
ridotto (colonne diverse = scaler diverso).
Config: threshold, apply_to.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453128"/>
            <a:ext cx="1920240" cy="2176272"/>
          </a:xfrm>
          <a:prstGeom prst="rect">
            <a:avLst/>
          </a:prstGeom>
          <a:solidFill>
            <a:srgbClr val="F2F4F8"/>
          </a:solidFill>
          <a:ln w="1905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4453128"/>
            <a:ext cx="1920240" cy="338328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44897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GenericEncoder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08192" y="4855464"/>
            <a:ext cx="17922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StandardScaler per numeriche.
OneHotEncoder per categoriche.
encode_target() per la variabile Y.
decode_target() per risalire alle label.
Istanza separata per variante mc.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4453128"/>
            <a:ext cx="1920240" cy="2176272"/>
          </a:xfrm>
          <a:prstGeom prst="rect">
            <a:avLst/>
          </a:prstGeom>
          <a:solidFill>
            <a:srgbClr val="F2F4F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2440" y="4453128"/>
            <a:ext cx="1920240" cy="338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5592" y="44897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PCAReducer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5592" y="4855464"/>
            <a:ext cx="17922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PCA con varianza spiegata configurabile.
Istanza separata per ogni modello.
Evita mismatch se modelli hanno
colonne diverse (es. logreg no Fare).
Config: n_components, apply_to.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49840" y="4453128"/>
            <a:ext cx="1920240" cy="2176272"/>
          </a:xfrm>
          <a:prstGeom prst="rect">
            <a:avLst/>
          </a:prstGeom>
          <a:solidFill>
            <a:srgbClr val="F2F4F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49840" y="4453128"/>
            <a:ext cx="1920240" cy="3383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22992" y="448970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FeatureEngineer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22992" y="4855464"/>
            <a:ext cx="1792224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</a:rPr>
              <a:t>Crea feature derivate dal dominio.
Imputa Age per TitleGroup al fit().
Configurabile: drop_raw_fare_for.
E' l'unico componente domain-specific;
gli altri sono completamente generici.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E8F0FF"/>
          </a:solidFill>
          <a:ln w="9525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5196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Contratto uniforme: configure() -&gt; fit(df_train) -&gt; transform(df)  -- composabili in pipeline senza coupling tra componenti.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Dal CSV grezzo ai vettori numerici pronti per i modelli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234440"/>
            <a:ext cx="1371600" cy="438912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1271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LOADER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673352"/>
            <a:ext cx="1371600" cy="3035808"/>
          </a:xfrm>
          <a:prstGeom prst="rect">
            <a:avLst/>
          </a:prstGeom>
          <a:solidFill>
            <a:srgbClr val="F2F4F8"/>
          </a:solidFill>
          <a:ln w="1270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64792"/>
            <a:ext cx="1243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Legge CSV
Drop cols
Separa X,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65176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BBBB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0784" y="1234440"/>
            <a:ext cx="1371600" cy="438912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1271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FEATURE ENG.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00784" y="1673352"/>
            <a:ext cx="1371600" cy="3035808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3936" y="1764792"/>
            <a:ext cx="1243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7 nuove feature
Imputa Age
per titolo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65176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BBBB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234440"/>
            <a:ext cx="1371600" cy="438912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271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CLEANER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673352"/>
            <a:ext cx="1371600" cy="3035808"/>
          </a:xfrm>
          <a:prstGeom prst="rect">
            <a:avLst/>
          </a:prstGeom>
          <a:solidFill>
            <a:srgbClr val="F2F4F8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1764792"/>
            <a:ext cx="1243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KNN Imputer
num + cat
Fit su 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65176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BBBB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0016" y="1234440"/>
            <a:ext cx="1371600" cy="43891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1271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OUTLIERS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1371600" cy="3035808"/>
          </a:xfrm>
          <a:prstGeom prst="rect">
            <a:avLst/>
          </a:prstGeom>
          <a:solidFill>
            <a:srgbClr val="F2F4F8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64792"/>
            <a:ext cx="1243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IQR + Z-score
Winsorization
Solo logreg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65176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BBBB"/>
                </a:solidFill>
              </a:rPr>
              <a:t>-&gt;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1234440"/>
            <a:ext cx="1371600" cy="438912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1271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MC HANDLER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1673352"/>
            <a:ext cx="1371600" cy="3035808"/>
          </a:xfrm>
          <a:prstGeom prst="rect">
            <a:avLst/>
          </a:prstGeom>
          <a:solidFill>
            <a:srgbClr val="F2F4F8"/>
          </a:solidFill>
          <a:ln w="12700">
            <a:solidFill>
              <a:srgbClr val="6C3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1764792"/>
            <a:ext cx="1243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Pearson |r|&gt;0.85
Drop feature
Solo logreg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265176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BBBB"/>
                </a:solidFill>
              </a:rPr>
              <a:t>-&gt;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99248" y="1234440"/>
            <a:ext cx="1371600" cy="438912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1271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ENCODER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1673352"/>
            <a:ext cx="1371600" cy="3035808"/>
          </a:xfrm>
          <a:prstGeom prst="rect">
            <a:avLst/>
          </a:prstGeom>
          <a:solidFill>
            <a:srgbClr val="F2F4F8"/>
          </a:solidFill>
          <a:ln w="1270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1764792"/>
            <a:ext cx="1243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StandardScaler
One-Hot Enc.
encode_target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265176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BBBB"/>
                </a:solidFill>
              </a:rPr>
              <a:t>-&gt;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98864" y="1234440"/>
            <a:ext cx="13716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98864" y="1271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98864" y="1673352"/>
            <a:ext cx="1371600" cy="3035808"/>
          </a:xfrm>
          <a:prstGeom prst="rect">
            <a:avLst/>
          </a:prstGeom>
          <a:solidFill>
            <a:srgbClr val="F2F4F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016" y="1764792"/>
            <a:ext cx="1243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Varianza 95%
Solo logreg
Riduci dim.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79608" y="2651760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BBBB"/>
                </a:solidFill>
              </a:rPr>
              <a:t>-&gt;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98480" y="1234440"/>
            <a:ext cx="137160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0" y="12710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0" y="1673352"/>
            <a:ext cx="1371600" cy="3035808"/>
          </a:xfrm>
          <a:prstGeom prst="rect">
            <a:avLst/>
          </a:prstGeom>
          <a:solidFill>
            <a:srgbClr val="F2F4F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71632" y="1764792"/>
            <a:ext cx="1243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GridSearchCV
best_estimator_
best_score_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919472"/>
            <a:ext cx="11612880" cy="1572768"/>
          </a:xfrm>
          <a:prstGeom prst="rect">
            <a:avLst/>
          </a:prstGeom>
          <a:solidFill>
            <a:srgbClr val="FFFBF0"/>
          </a:solidFill>
          <a:ln w="1270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010912"/>
            <a:ext cx="112471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Regola anti-leakage: ogni transformer viene fittato ESCLUSIVAMENTE sui dati di train, poi applicato al test con transform().
Encoder e PCAReducer hanno istanze separate per le due varianti del dataset (con/senza multicollinearita'), perche' le colonne presenti sono diverse e non si puo' riusare lo stesso scaler.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 -- Le Variabili Derivate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7 nuove feature costruite sulla conoscenza del dominio Titanic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1307592"/>
          </a:xfrm>
          <a:prstGeom prst="rect">
            <a:avLst/>
          </a:prstGeom>
          <a:solidFill>
            <a:srgbClr val="F2F4F8"/>
          </a:solidFill>
          <a:ln w="1905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669280" cy="338328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252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FarePerPerson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243584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CC"/>
                </a:solidFill>
              </a:rPr>
              <a:t>Fare / (SibSp + Parch + 1)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7276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Biglietti condivisi tra famiglie hanno tariffa unica. La tariffa pro-capite riflette la classe economica individuale, non il totale del gruppo.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67128"/>
            <a:ext cx="5486400" cy="2743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19456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34E"/>
                </a:solidFill>
              </a:rPr>
              <a:t>  Fare grezzo rimosso per logreg/svm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5669280" cy="1307592"/>
          </a:xfrm>
          <a:prstGeom prst="rect">
            <a:avLst/>
          </a:prstGeom>
          <a:solidFill>
            <a:srgbClr val="F2F4F8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88720"/>
            <a:ext cx="5669280" cy="33832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2252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FamilySize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243584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CC"/>
                </a:solidFill>
              </a:rPr>
              <a:t>SibSp + Parch + 1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57276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Dimensione del nucleo familiare a bordo. Famiglie medie (2-4) avevano maggiore probabilita' di sopravvivenza rispetto a solitari o famiglie numerose.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167128"/>
            <a:ext cx="5486400" cy="2743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19456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34E"/>
                </a:solidFill>
              </a:rPr>
              <a:t>  FamilySize=1 -&gt; IsAlone=1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06040"/>
            <a:ext cx="5669280" cy="1307592"/>
          </a:xfrm>
          <a:prstGeom prst="rect">
            <a:avLst/>
          </a:prstGeom>
          <a:solidFill>
            <a:srgbClr val="F2F4F8"/>
          </a:solidFill>
          <a:ln w="1905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606040"/>
            <a:ext cx="5669280" cy="338328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642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IsAlone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660904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CC"/>
                </a:solidFill>
              </a:rPr>
              <a:t>(FamilySize == 1).astype(int)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299008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Flag per passeggeri senza familiari. I solitari avevano dinamiche di sopravvivenza diverse: meno vincoli ma meno supporto per le scialuppe.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84448"/>
            <a:ext cx="5486400" cy="2743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6118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34E"/>
                </a:solidFill>
              </a:rPr>
              <a:t>  Feature booleana, basso costo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606040"/>
            <a:ext cx="5669280" cy="1307592"/>
          </a:xfrm>
          <a:prstGeom prst="rect">
            <a:avLst/>
          </a:prstGeom>
          <a:solidFill>
            <a:srgbClr val="F2F4F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606040"/>
            <a:ext cx="5669280" cy="338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642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CabinKnown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660904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CC"/>
                </a:solidFill>
              </a:rPr>
              <a:t>Cabin.notna().astype(int)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299008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Avere una cabina registrata era correlato con la classe sociale. Solo i passeggeri di 1a classe avevano generalmente la cabina assegnata.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584448"/>
            <a:ext cx="5486400" cy="2743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36118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34E"/>
                </a:solidFill>
              </a:rPr>
              <a:t>  Converte l'assenza in informazione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23360"/>
            <a:ext cx="5669280" cy="1307592"/>
          </a:xfrm>
          <a:prstGeom prst="rect">
            <a:avLst/>
          </a:prstGeom>
          <a:solidFill>
            <a:srgbClr val="F2F4F8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023360"/>
            <a:ext cx="5669280" cy="3383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40599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CabinDeck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078224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CC"/>
                </a:solidFill>
              </a:rPr>
              <a:t>Cabin.str[0].fillna('U')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440740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Il ponte della cabina (A/B/C/D/E/F/G) determinava la distanza fisica dalle scialuppe. I ponti alti (A, B) erano piu' vicini al piano superiore.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01768"/>
            <a:ext cx="5486400" cy="2743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50292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34E"/>
                </a:solidFill>
              </a:rPr>
              <a:t>  7 valori + U (unknown)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023360"/>
            <a:ext cx="5669280" cy="1307592"/>
          </a:xfrm>
          <a:prstGeom prst="rect">
            <a:avLst/>
          </a:prstGeom>
          <a:solidFill>
            <a:srgbClr val="F2F4F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023360"/>
            <a:ext cx="5669280" cy="3383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40599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SocialClass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4078224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CC"/>
                </a:solidFill>
              </a:rPr>
              <a:t>Pclass x Sex  -&gt; categoria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440740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Combina classe e genere: '1st_female', '3rd_male' ecc. Le donne di 1a classe sopravvivevano al 97%, gli uomini di 3a al 15%.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01768"/>
            <a:ext cx="5486400" cy="2743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8232" y="50292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34E"/>
                </a:solidFill>
              </a:rPr>
              <a:t>  Feature di interazione non lineare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4408" y="5440680"/>
            <a:ext cx="5669280" cy="1307592"/>
          </a:xfrm>
          <a:prstGeom prst="rect">
            <a:avLst/>
          </a:prstGeom>
          <a:solidFill>
            <a:srgbClr val="F2F4F8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64408" y="5440680"/>
            <a:ext cx="5669280" cy="33832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74136" y="54772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TitleGroup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3368" y="5495544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CC"/>
                </a:solidFill>
              </a:rPr>
              <a:t>regex r', ([^\.]+)\.'  su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74136" y="5824728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Il titolo (Mr, Mrs, Miss, Master, Rare) porta informazioni su sesso, eta' e status sociale. Master = bambino maschio, alta sopravvivenza.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55848" y="6419088"/>
            <a:ext cx="5486400" cy="2743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29000" y="64465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234E"/>
                </a:solidFill>
              </a:rPr>
              <a:t>  Usata anche per imputazione 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5196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234E"/>
                </a:solidFill>
              </a:rPr>
              <a:t>PassengerId, Ticket e Cabin grezze vengono droppate: il loro contenuto utile e' gia' estratto nelle nuove variabili.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 -- Imputazione Age per Titolo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177 valori Age mancanti (19.9%) imputati con mediana per gruppo sociale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5303520" cy="109728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Il problema: 177 Age mancanti su 891 (19.9%)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Imputare con la mediana globale (~28 anni) sbaglia sistematicamente: assegna 28 anni a 'Master Smith' (bambino di 3 anni) e a 'Mrs. Brown' (anziana).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95728"/>
            <a:ext cx="5303520" cy="4169663"/>
          </a:xfrm>
          <a:prstGeom prst="rect">
            <a:avLst/>
          </a:prstGeom>
          <a:solidFill>
            <a:srgbClr val="F0FFF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395728"/>
            <a:ext cx="53035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241401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 soluzione: mediana per TitleGroup (fit su train)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34640"/>
            <a:ext cx="914400" cy="475488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926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8A8A"/>
                </a:solidFill>
              </a:rPr>
              <a:t>~5 anni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26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Bambini maschi (figlio, nipote...)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38728"/>
            <a:ext cx="914400" cy="47548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301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Miss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30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5AA3"/>
                </a:solidFill>
              </a:rPr>
              <a:t>~22 anni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63016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Donne non sposate, spesso giovani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242816"/>
            <a:ext cx="914400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342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342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~36 anni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33425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Donne sposate / madri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946904"/>
            <a:ext cx="91440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0383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~30 anni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03834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Uomini adulti (la maggioranza)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650992"/>
            <a:ext cx="914400" cy="475488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7424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742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B1E"/>
                </a:solidFill>
              </a:rPr>
              <a:t>mediana gruppo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7424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Rev, Dr, Col, Major, Lady...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170432"/>
            <a:ext cx="5943600" cy="5394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12344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B1E"/>
                </a:solidFill>
              </a:rPr>
              <a:t>feature_engineering.py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157276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8A8A"/>
                </a:solidFill>
              </a:rPr>
              <a:t>_TITLE_MAP =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179679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'Master': 'Master',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202082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'Miss': 'Miss', 'Ms': 'Miss',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224485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'Mrs': 'Mrs', 'Mme': 'Mrs',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246888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'Mr': 'Mr', 'Sir': 'Mr', 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269290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79955"/>
                </a:solidFill>
              </a:rPr>
              <a:t>}  # tutti gli altri -&gt; 'Rare'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291693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314096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8A8A"/>
                </a:solidFill>
              </a:rPr>
              <a:t>def fit(self, df):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336499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titles = df['Name'].str.extract(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358902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r', ([^\.]+)\.')[0]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381304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grp = titles.map(_TITLE_MAP)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403707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       .fillna('Rare')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426110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tmp = df.assign(TitleGroup=grp)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448513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self._age_medians = (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70916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tmp.groupby('TitleGroup')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493318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   ['Age'].median()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515721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   .to_dict()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538124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60527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self._fallback = df['Age'].median()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582930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605332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78A8A"/>
                </a:solidFill>
              </a:rPr>
              <a:t>def transform(self, df):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9320" y="627735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79955"/>
                </a:solidFill>
              </a:rPr>
              <a:t>    # imputa PRIMA del cleaner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650138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mask = df['Age'].isna()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9320" y="672541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df.loc[mask, 'Age'] = grp[mask].map(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694944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  self._age_medians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717346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).fillna(self._fallback)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E8F4E8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5196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</a:rPr>
              <a:t>Fallback: se un gruppo non compare nel train (es. Rare vuoto), si usa la mediana globale del train -- nessun NaN residuo dopo la fase di 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Modelli &amp; GridSearchCV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5 algoritmi con iperparametri ottimizzati tramite cross-validation interna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2240280" cy="502920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18872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Logistic
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73352"/>
            <a:ext cx="2240280" cy="2377440"/>
          </a:xfrm>
          <a:prstGeom prst="rect">
            <a:avLst/>
          </a:prstGeom>
          <a:solidFill>
            <a:srgbClr val="F2F4F8"/>
          </a:solidFill>
          <a:ln w="1270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73736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Modello lineare, interpretabile.
Dataset: win+no-mc+no Fare+PCA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4050791"/>
            <a:ext cx="2240280" cy="1554480"/>
          </a:xfrm>
          <a:prstGeom prst="rect">
            <a:avLst/>
          </a:prstGeom>
          <a:solidFill>
            <a:srgbClr val="E8F4FF"/>
          </a:solidFill>
          <a:ln w="9525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4114800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35AA3"/>
                </a:solidFill>
              </a:rPr>
              <a:t>Param grid: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407408"/>
            <a:ext cx="20848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C: [0.001, 0.01, 0.1, 1, 10]
penalty: [l1, l2]
solver: [liblinear]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33472" y="1170432"/>
            <a:ext cx="2240280" cy="502920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18872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Decision
Tree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33472" y="1673352"/>
            <a:ext cx="2240280" cy="2377440"/>
          </a:xfrm>
          <a:prstGeom prst="rect">
            <a:avLst/>
          </a:prstGeom>
          <a:solidFill>
            <a:srgbClr val="F2F4F8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73736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Albero decisionale.
Massima interpretabilita'.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4050791"/>
            <a:ext cx="2240280" cy="1554480"/>
          </a:xfrm>
          <a:prstGeom prst="rect">
            <a:avLst/>
          </a:prstGeom>
          <a:solidFill>
            <a:srgbClr val="E8F4FF"/>
          </a:solidFill>
          <a:ln w="9525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4114800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8A8A"/>
                </a:solidFill>
              </a:rPr>
              <a:t>Param grid: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4407408"/>
            <a:ext cx="20848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max_depth: [3,5,7,10]
min_samples_split: [2,5,10]
criterion: [gini, entropy]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1170432"/>
            <a:ext cx="22402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18872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Random
Forest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10912" y="1673352"/>
            <a:ext cx="2240280" cy="2377440"/>
          </a:xfrm>
          <a:prstGeom prst="rect">
            <a:avLst/>
          </a:prstGeom>
          <a:solidFill>
            <a:srgbClr val="F2F4F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173736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Ensemble di alberi.
n_jobs=1 sull'estimator
(fix deadlock Docker).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10912" y="4050791"/>
            <a:ext cx="2240280" cy="1554480"/>
          </a:xfrm>
          <a:prstGeom prst="rect">
            <a:avLst/>
          </a:prstGeom>
          <a:solidFill>
            <a:srgbClr val="E8F4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114800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</a:rPr>
              <a:t>Param grid: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4407408"/>
            <a:ext cx="20848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n_estimators: [100,200]
max_depth: [5,10]
min_samples_split: [2,5]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88352" y="1170432"/>
            <a:ext cx="2240280" cy="5029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2" y="118872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1673352"/>
            <a:ext cx="2240280" cy="2377440"/>
          </a:xfrm>
          <a:prstGeom prst="rect">
            <a:avLst/>
          </a:prstGeom>
          <a:solidFill>
            <a:srgbClr val="F2F4F8"/>
          </a:solidFill>
          <a:ln w="1270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9792" y="173736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Gradient boosting sequenziale.
nthread=1 sull'estimator
(fix deadlock Docker).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8352" y="4050791"/>
            <a:ext cx="2240280" cy="1554480"/>
          </a:xfrm>
          <a:prstGeom prst="rect">
            <a:avLst/>
          </a:prstGeom>
          <a:solidFill>
            <a:srgbClr val="E8F4FF"/>
          </a:solidFill>
          <a:ln w="9525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4114800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7B1E"/>
                </a:solidFill>
              </a:rPr>
              <a:t>Param grid: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4407408"/>
            <a:ext cx="20848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n_estimators: [100,200]
max_depth: [3,5]
learning_rate: [0.05,0.1]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65792" y="1170432"/>
            <a:ext cx="22402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65792" y="118872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SVM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65792" y="1673352"/>
            <a:ext cx="2240280" cy="2377440"/>
          </a:xfrm>
          <a:prstGeom prst="rect">
            <a:avLst/>
          </a:prstGeom>
          <a:solidFill>
            <a:srgbClr val="F2F4F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7232" y="173736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Support Vector Machine.
probability=True per
threshold tuning.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65792" y="4050791"/>
            <a:ext cx="2240280" cy="1554480"/>
          </a:xfrm>
          <a:prstGeom prst="rect">
            <a:avLst/>
          </a:prstGeom>
          <a:solidFill>
            <a:srgbClr val="E8F4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57232" y="4114800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</a:rPr>
              <a:t>Param grid: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32" y="4407408"/>
            <a:ext cx="20848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kernel: [rbf, linear, poly]
C: [0.1, 1, 10, 100]
gamma: [scale, auto]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5715000"/>
            <a:ext cx="11676888" cy="1024128"/>
          </a:xfrm>
          <a:prstGeom prst="rect">
            <a:avLst/>
          </a:prstGeom>
          <a:solidFill>
            <a:srgbClr val="E8F4E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779008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GridSearchCV: cv=5, scoring='f1_weighted', n_jobs=-1 (parallelo a livello di fold).
best_score_ e' la stima onesta della cross-validation interna, non calcolata sul train.
best_estimator_ viene poi ri-valutato con cross_val_score(scoring='accuracy') per ottenere la stima Kaggle.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Tecniche Avanzate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PCA  |  Multicollinearity  |  Threshold Tuning  |  Model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5715000" cy="2578608"/>
          </a:xfrm>
          <a:prstGeom prst="rect">
            <a:avLst/>
          </a:prstGeom>
          <a:solidFill>
            <a:srgbClr val="F2F4F8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5715000" cy="365760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07008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PCA -- Principal Component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627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Mantiene il 95% della varianza spiegata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9293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Solo per logreg: beneficia di feature ortogonali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2311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PCAReducer separato per ogni modello nell'apply_to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532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n_components=0.95: numero componenti adattivo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07792"/>
            <a:ext cx="5532120" cy="731520"/>
          </a:xfrm>
          <a:prstGeom prst="rect">
            <a:avLst/>
          </a:prstGeom>
          <a:solidFill>
            <a:srgbClr val="FFFBF0"/>
          </a:solidFill>
          <a:ln w="63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62656"/>
            <a:ext cx="5376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Perche': LogReg e' sensibile a feature correlate: PCA le ortogonalizza riducendo instabilita' numerica e migliorando la convergenza.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70432"/>
            <a:ext cx="5715000" cy="2578608"/>
          </a:xfrm>
          <a:prstGeom prst="rect">
            <a:avLst/>
          </a:prstGeom>
          <a:solidFill>
            <a:srgbClr val="F2F4F8"/>
          </a:solidFill>
          <a:ln w="1905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70432"/>
            <a:ext cx="5715000" cy="365760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207008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Multicollinearity Handler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1627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Correlazione di Pearson tra coppie di feature numeriche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19293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Rimuove automaticamente se |r| &gt; soglia (0.85)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2311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encoder_mc: istanza separata per il dataset ridotto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532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Applicato prima dell'encoding (opera su valori grezzi)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907792"/>
            <a:ext cx="5532120" cy="731520"/>
          </a:xfrm>
          <a:prstGeom prst="rect">
            <a:avLst/>
          </a:prstGeom>
          <a:solidFill>
            <a:srgbClr val="FFFBF0"/>
          </a:solidFill>
          <a:ln w="635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962656"/>
            <a:ext cx="5376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Perche': Feature ridondanti non aggiungono informazione ma aumentano la varianza degli stimatori lineari e complicano l'interpretazione dei coefficienti.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13632"/>
            <a:ext cx="5715000" cy="2578608"/>
          </a:xfrm>
          <a:prstGeom prst="rect">
            <a:avLst/>
          </a:prstGeom>
          <a:solidFill>
            <a:srgbClr val="F2F4F8"/>
          </a:solidFill>
          <a:ln w="1905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913632"/>
            <a:ext cx="5715000" cy="36576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950208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Decision Threshold 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4370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Default soglia: 0.5 (P &gt; 0.5 -&gt; predicted=1)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" y="46725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Scannerizza soglie da 0.30 a 0.70 con passo 0.01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" y="49743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Usa cross_val_predict(method='predict_proba') -&gt; OOF probs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" y="5276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Ottimizza F1 (config: accuracy, recall, precision)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50992"/>
            <a:ext cx="5532120" cy="731520"/>
          </a:xfrm>
          <a:prstGeom prst="rect">
            <a:avLst/>
          </a:prstGeom>
          <a:solidFill>
            <a:srgbClr val="FFFBF0"/>
          </a:solidFill>
          <a:ln w="635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705856"/>
            <a:ext cx="5376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Perche': Con classi sbilanciate (38% sopravvissuti) la soglia 0.5 non e' ottimale per F1. Spostarla verso 0.40 recupera recall sui positivi.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913632"/>
            <a:ext cx="5715000" cy="2578608"/>
          </a:xfrm>
          <a:prstGeom prst="rect">
            <a:avLst/>
          </a:prstGeom>
          <a:solidFill>
            <a:srgbClr val="F2F4F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913632"/>
            <a:ext cx="57150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3950208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Caching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6" y="4370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Salva best_estimator_ su .pkl dopo il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46725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Hash MD5 di loader+models+cleaner+outliers+encoder+pca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49743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Config cambiata -&gt; hash diverso -&gt; retraining automatico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5276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Disabilitato durante sviluppo (enabled: false)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650992"/>
            <a:ext cx="5532120" cy="731520"/>
          </a:xfrm>
          <a:prstGeom prst="rect">
            <a:avLst/>
          </a:prstGeom>
          <a:solidFill>
            <a:srgbClr val="FFFBF0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705856"/>
            <a:ext cx="5376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Perche': GridSearchCV su 5 modelli richiede diversi minuti. Con caching, run successive con la stessa configurazione caricano il modello in millisecondi.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Parallelismo &amp; Docker -- Fix Deadlock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Il problema del nested parallelism e come risolverlo in container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1612880" cy="150876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116128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Il Problema: nested joblib parallelism in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GridSearchCV(n_jobs=-1) usa il backend loky (processi) per parallelizzare i fold. Se l'estimator usa anche n_jobs=-1 (RF) o nthread&gt;1 (XGBoost), Docker cerca di forkare sotto-processi dentro sotto-processi: deadlock o OOM. Il processo si blocca silenziosamente senza messaggi di errore.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2743200" cy="3566160"/>
          </a:xfrm>
          <a:prstGeom prst="rect">
            <a:avLst/>
          </a:prstGeom>
          <a:solidFill>
            <a:srgbClr val="F2F4F8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2743200" cy="365760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71216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GridSearchCV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182880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46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B1E"/>
                </a:solidFill>
              </a:rPr>
              <a:t>n_jobs=-1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86200"/>
            <a:ext cx="254203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Parallelizza i fold di cross-validation.
Sicuro: ogni fold e' un processo indipendente a livello di GridSearchCV.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34640"/>
            <a:ext cx="2743200" cy="3566160"/>
          </a:xfrm>
          <a:prstGeom prst="rect">
            <a:avLst/>
          </a:prstGeom>
          <a:solidFill>
            <a:srgbClr val="F2F4F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2834640"/>
            <a:ext cx="27432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871216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RandomForestClassifier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3291840"/>
            <a:ext cx="182880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346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B1E"/>
                </a:solidFill>
              </a:rPr>
              <a:t>n_jobs=1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886200"/>
            <a:ext cx="254203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RF e' gia' un ensemble interno di alberi.
Senza n_jobs=-1 non forka processi dentro i processi dei fold.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834640"/>
            <a:ext cx="2743200" cy="3566160"/>
          </a:xfrm>
          <a:prstGeom prst="rect">
            <a:avLst/>
          </a:prstGeom>
          <a:solidFill>
            <a:srgbClr val="F2F4F8"/>
          </a:solidFill>
          <a:ln w="1905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834640"/>
            <a:ext cx="2743200" cy="36576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871216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XGBClassifier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291840"/>
            <a:ext cx="182880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346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B1E"/>
                </a:solidFill>
              </a:rPr>
              <a:t>nthread=1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3886200"/>
            <a:ext cx="254203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XGBoost usa il suo thread pool interno.
nthread=1 forza single-thread evitando conflitti con il loky pool.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2834640"/>
            <a:ext cx="2743200" cy="3566160"/>
          </a:xfrm>
          <a:prstGeom prst="rect">
            <a:avLst/>
          </a:prstGeom>
          <a:solidFill>
            <a:srgbClr val="F2F4F8"/>
          </a:solidFill>
          <a:ln w="1905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2834640"/>
            <a:ext cx="2743200" cy="365760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871216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ENV LOKY_MAX_CPU_COUNT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3291840"/>
            <a:ext cx="182880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3346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7B1E"/>
                </a:solidFill>
              </a:rPr>
              <a:t>=8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3886200"/>
            <a:ext cx="254203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Variabile nel Dockerfile.
Loky tenta di rilevare i core del host, che in Docker e' instabile. Impostarla stabilizza i worker.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E8F4E8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196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</a:rPr>
              <a:t>ENV PYTHONUNBUFFERED=1 nel Dockerfile: senza di essa Python bufferizza stdout e non stampa nulla durante il training nel container.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Valutazione Locale -- evaluate_local.py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Come stimare l'accuracy Kaggle senza fare upload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1612880" cy="822960"/>
          </a:xfrm>
          <a:prstGeom prst="rect">
            <a:avLst/>
          </a:prstGeom>
          <a:solidFill>
            <a:srgbClr val="FFF8E8"/>
          </a:solidFill>
          <a:ln w="1270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1124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I label del test set (passeggeri 892-1309) sono segreti -- Kaggle non li pubblica. La valutazione onesta si fa sul train set (891 campioni) con cross-validation. evaluate_local.py implementa lo stesso approccio del notebook di riferimento.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5394960" cy="3291840"/>
          </a:xfrm>
          <a:prstGeom prst="rect">
            <a:avLst/>
          </a:prstGeom>
          <a:solidFill>
            <a:srgbClr val="FF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3949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1214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Approccio 1 -- Holdout 80/20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5786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StratifiedShuffleSplit(test_size=0.2, seed=42)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9443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Preprocessing fittato SOLO sul train split (713)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33101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Valutazione sul val split (178 righe)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36758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Pro: nessun leakage del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404164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Contro: stima variabile (dipende dal seed)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44074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Utile per: debug e verifiche singole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03120"/>
            <a:ext cx="5577840" cy="3291840"/>
          </a:xfrm>
          <a:prstGeom prst="rect">
            <a:avLst/>
          </a:prstGeom>
          <a:solidFill>
            <a:srgbClr val="F0FFF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0312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21214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Approccio 2 -- StratifiedKFold(5)  * Usato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5786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Preprocessing su tutti i 891 campioni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294436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GridSearchCV -&gt; best_estimator_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33101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cross_val_score(best_estimator, X_enc, y, cv=5)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6758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Pro: usa tutti i dati, stima piu' stabile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40416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Output: mean accuracy +/- std tra i fold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44074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  Stesso approccio del notebook di riferimento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32120"/>
            <a:ext cx="11612880" cy="1051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B1E"/>
                </a:solidFill>
              </a:rPr>
              <a:t>evaluate_local.py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97880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8A8A"/>
                </a:solidFill>
              </a:rPr>
              <a:t>cv = StratifiedKFold(n_splits=5, shuffle=True, random_state=42)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3562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scores = cross_val_score(model.model, X_enc, y_enc, cv=cv, scoring='accuracy', n_jobs=-1)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733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FF"/>
                </a:solidFill>
              </a:rPr>
              <a:t>print(f'Mean: {scores.mean():.4f}  Std: {scores.std():.4f}')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Risultati -- Performance CV Locale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StratifiedKFold(5), scoring='accuracy' su train.csv (891 campioni)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685800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88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1188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224" y="1188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336" y="1188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+/- Std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1188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54480"/>
            <a:ext cx="685800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824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168249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orig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168249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7AE60"/>
                </a:solidFill>
              </a:rPr>
              <a:t>0.8440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68249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+-0.0128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8152" y="1737360"/>
            <a:ext cx="1234439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121408"/>
            <a:ext cx="6858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2494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224942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orig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8224" y="224942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87B1E"/>
                </a:solidFill>
              </a:rPr>
              <a:t>0.8361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224942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+-0.0064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88152" y="2304288"/>
            <a:ext cx="1192764" cy="201168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688336"/>
            <a:ext cx="685800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816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SVM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281635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orig (no Fare)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28163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392B"/>
                </a:solidFill>
              </a:rPr>
              <a:t>0.8328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281635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+-0.0156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88152" y="2871216"/>
            <a:ext cx="1175355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255264"/>
            <a:ext cx="6858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3832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Logistic 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338328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win+no-mc (no Fare)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8224" y="33832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35AA3"/>
                </a:solidFill>
              </a:rPr>
              <a:t>0.8305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33832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+-0.0072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88152" y="3438144"/>
            <a:ext cx="1163222" cy="201168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3822192"/>
            <a:ext cx="685800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9502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Decision Tree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29968" y="3950208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orig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8224" y="39502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78A8A"/>
                </a:solidFill>
              </a:rPr>
              <a:t>0.8260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74336" y="395020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+-0.0164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88152" y="4005072"/>
            <a:ext cx="1139483" cy="201168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4389120"/>
            <a:ext cx="6858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45171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LogReg + PCA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29968" y="451713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win+no-mc (no Fare)+PCA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78224" y="45171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E44AD"/>
                </a:solidFill>
              </a:rPr>
              <a:t>0.8148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74336" y="451713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+-0.0096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88152" y="4572000"/>
            <a:ext cx="1080398" cy="2011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4956048"/>
            <a:ext cx="6858000" cy="54864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0840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Baseline (tutti 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9968" y="5084064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--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78224" y="508406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AAAAA"/>
                </a:solidFill>
              </a:rPr>
              <a:t>0.6162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74336" y="508406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+-0.0000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532120"/>
            <a:ext cx="6858000" cy="457200"/>
          </a:xfrm>
          <a:prstGeom prst="rect">
            <a:avLst/>
          </a:prstGeom>
          <a:solidFill>
            <a:srgbClr val="E8F4E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559612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2C2C"/>
                </a:solidFill>
              </a:rPr>
              <a:t>  Best: Random Forest 84.4%  |  +22.8 pp sulla baseline naive  |  Spread modelli: 2.9 pp tra il migliore e il peggiore (esclusa baseline)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1170432"/>
            <a:ext cx="4480560" cy="4828032"/>
          </a:xfrm>
          <a:prstGeom prst="rect">
            <a:avLst/>
          </a:prstGeom>
          <a:solidFill>
            <a:srgbClr val="F8F9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06640" y="1170432"/>
            <a:ext cx="448056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16368" y="118872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Analisi dei risultati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16368" y="16642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5AA3"/>
                </a:solidFill>
              </a:rPr>
              <a:t>Random Forest 84.4%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16368" y="19385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Robusto all'overfitting. Gestisce bene outlier e feature categoriche del Titanic.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16368" y="23500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5AA3"/>
                </a:solidFill>
              </a:rPr>
              <a:t>XGBoost vs RF (0.8%)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16368" y="26243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Differenza contenuta: con ensemble i due si complementano.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16368" y="30358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5AA3"/>
                </a:solidFill>
              </a:rPr>
              <a:t>SVM competitivo 83.3%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16368" y="33101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Kernel RBF cattura bene confini non lineari del dataset.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16368" y="37216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5AA3"/>
                </a:solidFill>
              </a:rPr>
              <a:t>LogReg + PCA peggiore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16368" y="39959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PCA perde informazione su questo dataset piccolo (891 righe).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16368" y="44074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5AA3"/>
                </a:solidFill>
              </a:rPr>
              <a:t>Std RF 0.0128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16368" y="46817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Deviazione standard accettabile: il modello e' stabile tra i fold.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16368" y="50932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5AA3"/>
                </a:solidFill>
              </a:rPr>
              <a:t>Gap vs notebook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16368" y="53675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Il notebook raggiunge 84% con VotingClassifier ensemble.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Confronto: Progetto Funghi -&gt; Titanic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Evoluzione dell'architettura rispetto al progetto precedente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92024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88720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Aspetto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1136" y="1170432"/>
            <a:ext cx="301752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188720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Progetto Funghi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85232" y="1170432"/>
            <a:ext cx="429768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8384" y="1188720"/>
            <a:ext cx="4187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Progetto Titanic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1170432"/>
            <a:ext cx="237744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188720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Impatto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54480"/>
            <a:ext cx="192024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609344"/>
            <a:ext cx="18105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Containerizzazione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31136" y="1554480"/>
            <a:ext cx="301752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04288" y="1609344"/>
            <a:ext cx="2907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Script locale Python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85232" y="1554480"/>
            <a:ext cx="429768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4" y="1609344"/>
            <a:ext cx="4187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Docker (python:3.11-slim)
PYTHONPATH, LOKY, UNBUFFERED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1554480"/>
            <a:ext cx="237744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609344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Riproducibile ovunque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48840"/>
            <a:ext cx="1920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203704"/>
            <a:ext cx="18105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API 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31136" y="2148840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04288" y="2203704"/>
            <a:ext cx="2907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Nessuna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85232" y="2148840"/>
            <a:ext cx="42976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4" y="2203704"/>
            <a:ext cx="4187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FastAPI: /train /evaluate /predict
Risposta JSON + submission 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19488" y="2148840"/>
            <a:ext cx="23774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203704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Integrabile in app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743200"/>
            <a:ext cx="192024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2798064"/>
            <a:ext cx="18105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Libreria 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31136" y="2743200"/>
            <a:ext cx="301752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04288" y="2798064"/>
            <a:ext cx="2907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Classi non strutturate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5232" y="2743200"/>
            <a:ext cx="429768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58384" y="2798064"/>
            <a:ext cx="4187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AbstractModel, GenericCleaner...
configure -&gt; fit -&gt; transform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19488" y="2743200"/>
            <a:ext cx="237744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2798064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Riusabile su altri dataset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337560"/>
            <a:ext cx="1920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392424"/>
            <a:ext cx="18105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Feature Engineering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31136" y="3337560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04288" y="3392424"/>
            <a:ext cx="2907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Minimal o nessuna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5232" y="3337560"/>
            <a:ext cx="42976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58384" y="3392424"/>
            <a:ext cx="4187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7 nuove feature derivate
Imputazione Age per TitleGroup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19488" y="3337560"/>
            <a:ext cx="23774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3392424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Piu' info al modello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931920"/>
            <a:ext cx="192024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3986784"/>
            <a:ext cx="18105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Preprocessing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31136" y="3931920"/>
            <a:ext cx="301752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04288" y="3986784"/>
            <a:ext cx="2907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Cleaner base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85232" y="3931920"/>
            <a:ext cx="429768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58384" y="3986784"/>
            <a:ext cx="4187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Outlier + Winsorization
Multicollinearity handler
Encoder separati per variante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19488" y="3931920"/>
            <a:ext cx="237744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3986784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Pipeline coerente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526280"/>
            <a:ext cx="1920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4581144"/>
            <a:ext cx="18105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Riduzione dim.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31136" y="4526280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04288" y="4581144"/>
            <a:ext cx="2907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Nessuna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85232" y="4526280"/>
            <a:ext cx="42976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58384" y="4581144"/>
            <a:ext cx="4187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PCA 95% varianza
PCAReducer per ogni modello
Evita feature mismatch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19488" y="4526280"/>
            <a:ext cx="23774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0" y="4581144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8A8A"/>
                </a:solidFill>
              </a:rPr>
              <a:t>LogReg piu' stabile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120640"/>
            <a:ext cx="192024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" y="5175504"/>
            <a:ext cx="18105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Parallelismo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31136" y="5120640"/>
            <a:ext cx="301752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04288" y="5175504"/>
            <a:ext cx="2907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Default joblib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85232" y="5120640"/>
            <a:ext cx="429768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58384" y="5175504"/>
            <a:ext cx="4187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Fix deadlock Docker
n_jobs=1 estimator, n_jobs=-1 GridSearchCV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19488" y="5120640"/>
            <a:ext cx="2377440" cy="576072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92640" y="5175504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B1E"/>
                </a:solidFill>
              </a:rPr>
              <a:t>Nessun hang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715000"/>
            <a:ext cx="1920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" y="5769864"/>
            <a:ext cx="18105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Valutazione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31136" y="5715000"/>
            <a:ext cx="3017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04288" y="5769864"/>
            <a:ext cx="2907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Train accuracy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85232" y="5715000"/>
            <a:ext cx="42976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58384" y="5769864"/>
            <a:ext cx="4187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StratifiedKFold(5) + cross_val_score
Local eval script dedicato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19488" y="5715000"/>
            <a:ext cx="23774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92640" y="5769864"/>
            <a:ext cx="2267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Stima Kaggle onesta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5196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234E"/>
                </a:solidFill>
              </a:rPr>
              <a:t>Da script monolitico a sistema modulare, containerizzato, con API, valutazione onesta e libreria ML riutilizzabile su qualsiasi dataset tabellare.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Prossimi Passi -- Ensemble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4E8"/>
                </a:solidFill>
              </a:rPr>
              <a:t>Come superare l'84% e raggiungere le performance dei notebook di riferimento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6032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5669280" cy="2560320"/>
          </a:xfrm>
          <a:prstGeom prst="rect">
            <a:avLst/>
          </a:prstGeom>
          <a:solidFill>
            <a:srgbClr val="F2F4F8"/>
          </a:solidFill>
          <a:ln w="1905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5669280" cy="365760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0700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Soft Voting Ensemble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09344"/>
            <a:ext cx="54589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VotingClassifier(voting='soft') su logreg + xgboost + random_forest.
Media delle probabilita' dei 3 modelli migliori.
Il notebook di riferimento raggiunge ~84% con questo approccio.
Implementazione: 5 righe con sklearn VotingClassifier.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72384"/>
            <a:ext cx="5486400" cy="548640"/>
          </a:xfrm>
          <a:prstGeom prst="rect">
            <a:avLst/>
          </a:prstGeom>
          <a:solidFill>
            <a:srgbClr val="FFFBF0"/>
          </a:solidFill>
          <a:ln w="6350">
            <a:solidFill>
              <a:srgbClr val="E87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2724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7B1E"/>
                </a:solidFill>
              </a:rPr>
              <a:t>  Guadagno atteso: +1-2 pp su 84.4%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70432"/>
            <a:ext cx="5669280" cy="2560320"/>
          </a:xfrm>
          <a:prstGeom prst="rect">
            <a:avLst/>
          </a:prstGeom>
          <a:solidFill>
            <a:srgbClr val="F2F4F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70432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20700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CV-Bagging su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609344"/>
            <a:ext cx="54589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Approccio dell'articolo leaderboard (~87%).
Training del modello su ogni fold di StratifiedKFold(5).
Predizioni test = media delle probabilita' dei 5 modelli.
RF 1750 alberi, max_depth=7 -&gt; piu' espressivo del nostro.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072384"/>
            <a:ext cx="5486400" cy="548640"/>
          </a:xfrm>
          <a:prstGeom prst="rect">
            <a:avLst/>
          </a:prstGeom>
          <a:solidFill>
            <a:srgbClr val="FFFBF0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12724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</a:rPr>
              <a:t>  Guadagno atteso: +2-3 pp, submission piu' stabile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95344"/>
            <a:ext cx="5669280" cy="2560320"/>
          </a:xfrm>
          <a:prstGeom prst="rect">
            <a:avLst/>
          </a:prstGeom>
          <a:solidFill>
            <a:srgbClr val="F2F4F8"/>
          </a:solidFill>
          <a:ln w="190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95344"/>
            <a:ext cx="5669280" cy="365760"/>
          </a:xfrm>
          <a:prstGeom prst="rect">
            <a:avLst/>
          </a:prstGeom>
          <a:solidFill>
            <a:srgbClr val="235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93192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Stacking con Meta-learner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334256"/>
            <a:ext cx="54589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Modelli base: RF, XGBoost, SVM -&gt; predizioni OOF come feature.
Meta-learner: LogisticRegression sulle predizioni base.
Attenzione al leakage: base e meta su split separati.
Implementazione con sklearn StackingClassifier.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97296"/>
            <a:ext cx="5486400" cy="548640"/>
          </a:xfrm>
          <a:prstGeom prst="rect">
            <a:avLst/>
          </a:prstGeom>
          <a:solidFill>
            <a:srgbClr val="FFFBF0"/>
          </a:solidFill>
          <a:ln w="6350">
            <a:solidFill>
              <a:srgbClr val="235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35AA3"/>
                </a:solidFill>
              </a:rPr>
              <a:t>  Guadagno atteso: +1-2 pp, complessita' maggiore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95344"/>
            <a:ext cx="5669280" cy="2560320"/>
          </a:xfrm>
          <a:prstGeom prst="rect">
            <a:avLst/>
          </a:prstGeom>
          <a:solidFill>
            <a:srgbClr val="F2F4F8"/>
          </a:solidFill>
          <a:ln w="1905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95344"/>
            <a:ext cx="5669280" cy="365760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93192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 Interaction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334256"/>
            <a:ext cx="54589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</a:rPr>
              <a:t>Sex x Pclass: feature di interazione esplicita.
TicketFreq: quante persone condividono il ticket.
AgeGroup: fasce eta' (Child &lt;12, Teen, Adult, Senior).
Fare binning: fasce tariffarie invece di valore continuo.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5797296"/>
            <a:ext cx="5486400" cy="548640"/>
          </a:xfrm>
          <a:prstGeom prst="rect">
            <a:avLst/>
          </a:prstGeom>
          <a:solidFill>
            <a:srgbClr val="FFFBF0"/>
          </a:solidFill>
          <a:ln w="635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58521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8A8A"/>
                </a:solidFill>
              </a:rPr>
              <a:t>  Guadagno atteso: +0.5-1 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196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234E"/>
                </a:solidFill>
              </a:rPr>
              <a:t>Benchmark: Notebook VotingClassifier ~84%  |  Articolo CV-Bagging RF ~87%  |  Top Kaggle &gt;90% (deep feature engineering + ensembles)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87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17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Grazie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AAC4E8"/>
                </a:solidFill>
              </a:rPr>
              <a:t>Titanic Survival Prediction -- ML Pipeline Avanzata con Libreria Generalizzata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2377440" cy="804672"/>
          </a:xfrm>
          <a:prstGeom prst="rect">
            <a:avLst/>
          </a:prstGeom>
          <a:solidFill>
            <a:srgbClr val="2A3A6E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897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B1E"/>
                </a:solidFill>
              </a:rPr>
              <a:t>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554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4E8"/>
                </a:solidFill>
              </a:rPr>
              <a:t>Containerizzazione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434840"/>
            <a:ext cx="2377440" cy="804672"/>
          </a:xfrm>
          <a:prstGeom prst="rect">
            <a:avLst/>
          </a:prstGeom>
          <a:solidFill>
            <a:srgbClr val="2A3A6E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4897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B1E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8554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4E8"/>
                </a:solidFill>
              </a:rPr>
              <a:t>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434840"/>
            <a:ext cx="2377440" cy="804672"/>
          </a:xfrm>
          <a:prstGeom prst="rect">
            <a:avLst/>
          </a:prstGeom>
          <a:solidFill>
            <a:srgbClr val="2A3A6E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4897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B1E"/>
                </a:solidFill>
              </a:rPr>
              <a:t>AbstractModel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8554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4E8"/>
                </a:solidFill>
              </a:rPr>
              <a:t>Libreria generalizzata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4434840"/>
            <a:ext cx="2377440" cy="804672"/>
          </a:xfrm>
          <a:prstGeom prst="rect">
            <a:avLst/>
          </a:prstGeom>
          <a:solidFill>
            <a:srgbClr val="2A3A6E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4897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B1E"/>
                </a:solidFill>
              </a:rPr>
              <a:t>GridSearchCV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8554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4E8"/>
                </a:solidFill>
              </a:rPr>
              <a:t>Ottimizzazione HP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422392"/>
            <a:ext cx="2377440" cy="804672"/>
          </a:xfrm>
          <a:prstGeom prst="rect">
            <a:avLst/>
          </a:prstGeom>
          <a:solidFill>
            <a:srgbClr val="2A3A6E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772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B1E"/>
                </a:solidFill>
              </a:rPr>
              <a:t>PCA + MC Handler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43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4E8"/>
                </a:solidFill>
              </a:rPr>
              <a:t>Riduzione dim.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5422392"/>
            <a:ext cx="2377440" cy="804672"/>
          </a:xfrm>
          <a:prstGeom prst="rect">
            <a:avLst/>
          </a:prstGeom>
          <a:solidFill>
            <a:srgbClr val="2A3A6E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54772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B1E"/>
                </a:solidFill>
              </a:rPr>
              <a:t>StratifiedKFold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843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4E8"/>
                </a:solidFill>
              </a:rPr>
              <a:t>Valutazione onesta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5422392"/>
            <a:ext cx="2377440" cy="804672"/>
          </a:xfrm>
          <a:prstGeom prst="rect">
            <a:avLst/>
          </a:prstGeom>
          <a:solidFill>
            <a:srgbClr val="2A3A6E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54772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B1E"/>
                </a:solidFill>
              </a:rPr>
              <a:t>XGBoost 84.4%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843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4E8"/>
                </a:solidFill>
              </a:rPr>
              <a:t>Best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5422392"/>
            <a:ext cx="2377440" cy="804672"/>
          </a:xfrm>
          <a:prstGeom prst="rect">
            <a:avLst/>
          </a:prstGeom>
          <a:solidFill>
            <a:srgbClr val="2A3A6E"/>
          </a:solidFill>
          <a:ln w="12700">
            <a:solidFill>
              <a:srgbClr val="17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54772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B1E"/>
                </a:solidFill>
              </a:rPr>
              <a:t>Feature Eng. x7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843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4E8"/>
                </a:solidFill>
              </a:rPr>
              <a:t>Nuove variabili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88"/>
                </a:solidFill>
              </a:rPr>
              <a:t>Corso Data Analytics  |  2025/26  |  Andrea Morlotti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